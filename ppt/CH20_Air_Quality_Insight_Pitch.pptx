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d646fbf0-08a3-ce8c-b0e3-040e925b2650}">
          <p14:sldIdLst>
            <p14:sldId id="256"/>
          </p14:sldIdLst>
        </p14:section>
        <p14:section name="Context" id="{596b8f1c-aa31-612d-7dfe-336d70a0871d}">
          <p14:sldIdLst>
            <p14:sldId id="257"/>
            <p14:sldId id="258"/>
          </p14:sldIdLst>
        </p14:section>
        <p14:section name="Findings" id="{dc9512ea-08b5-da3a-895e-94ccfd5e6b46}">
          <p14:sldIdLst>
            <p14:sldId id="259"/>
            <p14:sldId id="260"/>
            <p14:sldId id="261"/>
          </p14:sldIdLst>
        </p14:section>
        <p14:section name="Drivers" id="{fad25760-26bb-64fa-6d23-4721be2d9eba}">
          <p14:sldIdLst>
            <p14:sldId id="262"/>
            <p14:sldId id="263"/>
          </p14:sldIdLst>
        </p14:section>
        <p14:section name="Action" id="{f41fb539-5cea-fb7f-fcb2-5a9cb003c6aa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3B4C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F3B4C"/>
                </a:solidFill>
                <a:latin typeface="+mn-lt"/>
              </a:rPr>
              <a:t>Mean AQI by station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AQI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B8A9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B8A9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B8A9A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Ukkadam</c:v>
                  </c:pt>
                  <c:pt idx="1">
                    <c:v>Singanallur</c:v>
                  </c:pt>
                  <c:pt idx="2">
                    <c:v>Kuniyamuthur</c:v>
                  </c:pt>
                  <c:pt idx="3">
                    <c:v>Gandhipuram</c:v>
                  </c:pt>
                  <c:pt idx="4">
                    <c:v>RS Puram</c:v>
                  </c:pt>
                  <c:pt idx="5">
                    <c:v>Peelamedu</c:v>
                  </c:pt>
                  <c:pt idx="6">
                    <c:v>Saravanampatti</c:v>
                  </c:pt>
                  <c:pt idx="7">
                    <c:v>Vadavalli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190.6</c:v>
                </c:pt>
                <c:pt idx="1">
                  <c:v>181.8</c:v>
                </c:pt>
                <c:pt idx="2">
                  <c:v>171.1</c:v>
                </c:pt>
                <c:pt idx="3">
                  <c:v>162</c:v>
                </c:pt>
                <c:pt idx="4">
                  <c:v>140.7</c:v>
                </c:pt>
                <c:pt idx="5">
                  <c:v>103.5</c:v>
                </c:pt>
                <c:pt idx="6">
                  <c:v>93.8</c:v>
                </c:pt>
                <c:pt idx="7">
                  <c:v>67.2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B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B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3B4C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F3B4C"/>
                </a:solidFill>
                <a:latin typeface="+mn-lt"/>
              </a:rPr>
              <a:t>Mean AQI by hour of day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AQI</c:v>
                </c:pt>
              </c:strCache>
            </c:strRef>
          </c:tx>
          <c:spPr>
            <a:solidFill>
              <a:srgbClr val="1B8A9A"/>
            </a:solidFill>
            <a:ln w="38100" cap="flat">
              <a:solidFill>
                <a:srgbClr val="1B8A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3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8A9A"/>
              </a:solidFill>
              <a:ln w="9525" cap="flat">
                <a:solidFill>
                  <a:srgbClr val="1B8A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127.8</c:v>
                </c:pt>
                <c:pt idx="1">
                  <c:v>128.3</c:v>
                </c:pt>
                <c:pt idx="2">
                  <c:v>129.6</c:v>
                </c:pt>
                <c:pt idx="3">
                  <c:v>128.6</c:v>
                </c:pt>
                <c:pt idx="4">
                  <c:v>127.6</c:v>
                </c:pt>
                <c:pt idx="5">
                  <c:v>133.7</c:v>
                </c:pt>
                <c:pt idx="6">
                  <c:v>151</c:v>
                </c:pt>
                <c:pt idx="7">
                  <c:v>175.7</c:v>
                </c:pt>
                <c:pt idx="8">
                  <c:v>181.2</c:v>
                </c:pt>
                <c:pt idx="9">
                  <c:v>157.1</c:v>
                </c:pt>
                <c:pt idx="10">
                  <c:v>137.2</c:v>
                </c:pt>
                <c:pt idx="11">
                  <c:v>126.6</c:v>
                </c:pt>
                <c:pt idx="12">
                  <c:v>123.6</c:v>
                </c:pt>
                <c:pt idx="13">
                  <c:v>120.1</c:v>
                </c:pt>
                <c:pt idx="14">
                  <c:v>121</c:v>
                </c:pt>
                <c:pt idx="15">
                  <c:v>127</c:v>
                </c:pt>
                <c:pt idx="16">
                  <c:v>141.5</c:v>
                </c:pt>
                <c:pt idx="17">
                  <c:v>157.4</c:v>
                </c:pt>
                <c:pt idx="18">
                  <c:v>158.7</c:v>
                </c:pt>
                <c:pt idx="19">
                  <c:v>148.9</c:v>
                </c:pt>
                <c:pt idx="20">
                  <c:v>138.3</c:v>
                </c:pt>
                <c:pt idx="21">
                  <c:v>133.6</c:v>
                </c:pt>
                <c:pt idx="22">
                  <c:v>130.5</c:v>
                </c:pt>
                <c:pt idx="23">
                  <c:v>127.3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3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3A4B55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3A4B55"/>
                    </a:solidFill>
                    <a:latin typeface="Arial"/>
                  </a:rPr>
                  <a:t>Hour (0–23)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B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"/>
          <c:min val="100"/>
        </c:scaling>
        <c:delete val="0"/>
        <c:axPos val="l"/>
        <c:majorGridlines>
          <c:spPr>
            <a:ln w="6350" cap="flat">
              <a:solidFill>
                <a:srgbClr val="D5E2E6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B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3B4C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F3B4C"/>
                </a:solidFill>
                <a:latin typeface="+mn-lt"/>
              </a:rPr>
              <a:t>Mean AQI by month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AQI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B8A9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B8A9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B8A9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B8A9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8E5BA6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8E5BA6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D64545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211</c:v>
                </c:pt>
                <c:pt idx="1">
                  <c:v>215.8</c:v>
                </c:pt>
                <c:pt idx="2">
                  <c:v>140.5</c:v>
                </c:pt>
                <c:pt idx="3">
                  <c:v>136.3</c:v>
                </c:pt>
                <c:pt idx="4">
                  <c:v>136.7</c:v>
                </c:pt>
                <c:pt idx="5">
                  <c:v>73.9</c:v>
                </c:pt>
                <c:pt idx="6">
                  <c:v>75.9</c:v>
                </c:pt>
                <c:pt idx="7">
                  <c:v>75.2</c:v>
                </c:pt>
                <c:pt idx="8">
                  <c:v>76.7</c:v>
                </c:pt>
                <c:pt idx="9">
                  <c:v>157.4</c:v>
                </c:pt>
                <c:pt idx="10">
                  <c:v>157.7</c:v>
                </c:pt>
                <c:pt idx="11">
                  <c:v>210.3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B2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B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B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3B4C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F3B4C"/>
                </a:solidFill>
                <a:latin typeface="+mn-lt"/>
              </a:rPr>
              <a:t>Mean PM2.5 by wind speed band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PM2.5</c:v>
                </c:pt>
              </c:strCache>
            </c:strRef>
          </c:tx>
          <c:spPr>
            <a:solidFill>
              <a:srgbClr val="1B8A9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0–1</c:v>
                  </c:pt>
                  <c:pt idx="1">
                    <c:v>1–2</c:v>
                  </c:pt>
                  <c:pt idx="2">
                    <c:v>2–3</c:v>
                  </c:pt>
                  <c:pt idx="3">
                    <c:v>3–5</c:v>
                  </c:pt>
                  <c:pt idx="4">
                    <c:v>5+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99.5</c:v>
                </c:pt>
                <c:pt idx="1">
                  <c:v>82.1</c:v>
                </c:pt>
                <c:pt idx="2">
                  <c:v>63</c:v>
                </c:pt>
                <c:pt idx="3">
                  <c:v>47.4</c:v>
                </c:pt>
                <c:pt idx="4">
                  <c:v>35.8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3A4B55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3A4B55"/>
                    </a:solidFill>
                    <a:latin typeface="Arial"/>
                  </a:rPr>
                  <a:t>Wind speed band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B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B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AQI</c:v>
                </c:pt>
              </c:strCache>
            </c:strRef>
          </c:tx>
          <c:spPr>
            <a:solidFill>
              <a:srgbClr val="5B7C8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7C8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Off-peak</c:v>
                  </c:pt>
                  <c:pt idx="1">
                    <c:v>Peak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130.7</c:v>
                </c:pt>
                <c:pt idx="1">
                  <c:v>163.2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B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B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PM2.5</c:v>
                </c:pt>
              </c:strCache>
            </c:strRef>
          </c:tx>
          <c:spPr>
            <a:solidFill>
              <a:srgbClr val="5B7C8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7C8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8A9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 rain</c:v>
                  </c:pt>
                  <c:pt idx="1">
                    <c:v>Rain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40.8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B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B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yourself: Pradeep P, Reg No 722824104175. Challenge CH20 - Air Quality Insight for EcoAir Analytics Centre.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source files merged into one station-by-hour table. The data was generated programmatically (synthetic) because raw files were not provided; the five data-quality issues were built in on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Missing: PM2.5 2,358 + PM10 2,455 + NO2 2,446 + AQI 2,387 = 9,646. Weather 1,007 + traffic 71 = 1,078. Impossible values: 49 + 45 + 45 + 45 = 184. IQR caps: 34 + 7 + 10 = 51.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 labels: left chart is mean AQI (off-peak vs peak traffic); right chart is mean PM2.5 (no rain vs rain).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Model: Random Forest on weather, traffic, location and time drivers, time-based 80/20 split. RMSE 40.5, R2 0.762. Adding a lag feature improves R2 to 0.838.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F3B4C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C8D"/>
                </a:solidFill>
              </a:rPr>
              <a:t>CH20 · Air Quality Insight  |  Pradeep P · 722824104175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4" Type="http://schemas.openxmlformats.org/officeDocument/2006/relationships/chart" Target="/ppt/charts/chart6.xml"/><Relationship Id="rId1" Type="http://schemas.openxmlformats.org/officeDocument/2006/relationships/image" Target="../media/image-8-1.png"/><Relationship Id="rId3" Type="http://schemas.openxmlformats.org/officeDocument/2006/relationships/image" Target="../media/image-8-2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-1"/>
          <p:cNvSpPr/>
          <p:nvPr/>
        </p:nvSpPr>
        <p:spPr>
          <a:xfrm>
            <a:off x="6309360" y="457200"/>
            <a:ext cx="3291840" cy="329184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deco-2"/>
          <p:cNvSpPr/>
          <p:nvPr/>
        </p:nvSpPr>
        <p:spPr>
          <a:xfrm>
            <a:off x="7223760" y="2377440"/>
            <a:ext cx="2377440" cy="2377440"/>
          </a:xfrm>
          <a:prstGeom prst="ellipse">
            <a:avLst/>
          </a:prstGeom>
          <a:solidFill>
            <a:schemeClr val="accent2">
              <a:alpha val="2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mage 0" descr="leaf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457200" cy="457200"/>
          </a:xfrm>
          <a:prstGeom prst="rect">
            <a:avLst/>
          </a:prstGeom>
        </p:spPr>
      </p:pic>
      <p:sp>
        <p:nvSpPr>
          <p:cNvPr id="5" name="kicker"/>
          <p:cNvSpPr txBox="1"/>
          <p:nvPr/>
        </p:nvSpPr>
        <p:spPr>
          <a:xfrm>
            <a:off x="1143000" y="685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FB7A8"/>
                </a:solidFill>
              </a:rPr>
              <a:t>ECOAIR ANALYTICS CENTRE  ·  CH20</a:t>
            </a:r>
            <a:endParaRPr lang="en-US" sz="14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Air Quality Insight</a:t>
            </a:r>
            <a:endParaRPr lang="en-US" sz="4000" dirty="0"/>
          </a:p>
        </p:txBody>
      </p:sp>
      <p:sp>
        <p:nvSpPr>
          <p:cNvPr id="7" name="subtitle"/>
          <p:cNvSpPr txBox="1"/>
          <p:nvPr/>
        </p:nvSpPr>
        <p:spPr>
          <a:xfrm>
            <a:off x="548640" y="23317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E8"/>
                </a:solidFill>
              </a:rPr>
              <a:t>How weather, location and time shape air quality</a:t>
            </a:r>
            <a:endParaRPr lang="en-US" sz="2000" dirty="0"/>
          </a:p>
        </p:txBody>
      </p:sp>
      <p:sp>
        <p:nvSpPr>
          <p:cNvPr id="8" name="presenter"/>
          <p:cNvSpPr txBox="1"/>
          <p:nvPr/>
        </p:nvSpPr>
        <p:spPr>
          <a:xfrm>
            <a:off x="548640" y="35661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Pradeep P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rgbClr val="F2A93B"/>
                </a:solidFill>
              </a:rPr>
              <a:t>Reg No: 722824104175</a:t>
            </a:r>
            <a:endParaRPr lang="en-US" sz="2000" dirty="0"/>
          </a:p>
        </p:txBody>
      </p:sp>
      <p:sp>
        <p:nvSpPr>
          <p:cNvPr id="9" name="event"/>
          <p:cNvSpPr txBox="1"/>
          <p:nvPr/>
        </p:nvSpPr>
        <p:spPr>
          <a:xfrm>
            <a:off x="548640" y="4526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FC8"/>
                </a:solidFill>
              </a:rPr>
              <a:t>DS Sprint 2026 · Round 4 · Pitching Business Insights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3B4C"/>
                </a:solidFill>
              </a:rPr>
              <a:t>The question and the data</a:t>
            </a:r>
            <a:endParaRPr lang="en-US" sz="3000" dirty="0"/>
          </a:p>
        </p:txBody>
      </p:sp>
      <p:sp>
        <p:nvSpPr>
          <p:cNvPr id="3" name="q-card"/>
          <p:cNvSpPr/>
          <p:nvPr/>
        </p:nvSpPr>
        <p:spPr>
          <a:xfrm>
            <a:off x="457200" y="1188720"/>
            <a:ext cx="3291840" cy="333756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q-kicker"/>
          <p:cNvSpPr txBox="1"/>
          <p:nvPr/>
        </p:nvSpPr>
        <p:spPr>
          <a:xfrm>
            <a:off x="685800" y="1371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8A9A"/>
                </a:solidFill>
              </a:rPr>
              <a:t>BUSINESS QUESTION</a:t>
            </a:r>
            <a:endParaRPr lang="en-US" sz="1200" dirty="0"/>
          </a:p>
        </p:txBody>
      </p:sp>
      <p:sp>
        <p:nvSpPr>
          <p:cNvPr id="5" name="q-text"/>
          <p:cNvSpPr txBox="1"/>
          <p:nvPr/>
        </p:nvSpPr>
        <p:spPr>
          <a:xfrm>
            <a:off x="685800" y="169164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weather, location and time relate to changes in air quality?</a:t>
            </a:r>
            <a:endParaRPr lang="en-US" sz="2000" dirty="0"/>
          </a:p>
        </p:txBody>
      </p:sp>
      <p:sp>
        <p:nvSpPr>
          <p:cNvPr id="6" name="q-goal"/>
          <p:cNvSpPr txBox="1"/>
          <p:nvPr/>
        </p:nvSpPr>
        <p:spPr>
          <a:xfrm>
            <a:off x="685800" y="310896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B55"/>
                </a:solidFill>
              </a:rPr>
              <a:t>Goal: set monitoring priorities for places, periods and conditions with repeated poor air.</a:t>
            </a:r>
            <a:endParaRPr lang="en-US" sz="1400" dirty="0"/>
          </a:p>
        </p:txBody>
      </p:sp>
      <p:sp>
        <p:nvSpPr>
          <p:cNvPr id="7" name="file-0"/>
          <p:cNvSpPr/>
          <p:nvPr/>
        </p:nvSpPr>
        <p:spPr>
          <a:xfrm>
            <a:off x="4023360" y="1188720"/>
            <a:ext cx="46634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file-name-0"/>
          <p:cNvSpPr txBox="1"/>
          <p:nvPr/>
        </p:nvSpPr>
        <p:spPr>
          <a:xfrm>
            <a:off x="4160520" y="1188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4C"/>
                </a:solidFill>
              </a:rPr>
              <a:t>air_quality.csv</a:t>
            </a:r>
            <a:endParaRPr lang="en-US" sz="1400" dirty="0"/>
          </a:p>
        </p:txBody>
      </p:sp>
      <p:sp>
        <p:nvSpPr>
          <p:cNvPr id="9" name="file-fields-0"/>
          <p:cNvSpPr txBox="1"/>
          <p:nvPr/>
        </p:nvSpPr>
        <p:spPr>
          <a:xfrm>
            <a:off x="5806440" y="1188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B55"/>
                </a:solidFill>
              </a:rPr>
              <a:t>PM2.5, PM10, NO2, AQI</a:t>
            </a:r>
            <a:endParaRPr lang="en-US" sz="1400" dirty="0"/>
          </a:p>
        </p:txBody>
      </p:sp>
      <p:sp>
        <p:nvSpPr>
          <p:cNvPr id="10" name="file-1"/>
          <p:cNvSpPr/>
          <p:nvPr/>
        </p:nvSpPr>
        <p:spPr>
          <a:xfrm>
            <a:off x="4023360" y="1719072"/>
            <a:ext cx="46634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file-name-1"/>
          <p:cNvSpPr txBox="1"/>
          <p:nvPr/>
        </p:nvSpPr>
        <p:spPr>
          <a:xfrm>
            <a:off x="4160520" y="17190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4C"/>
                </a:solidFill>
              </a:rPr>
              <a:t>stations.csv</a:t>
            </a:r>
            <a:endParaRPr lang="en-US" sz="1400" dirty="0"/>
          </a:p>
        </p:txBody>
      </p:sp>
      <p:sp>
        <p:nvSpPr>
          <p:cNvPr id="12" name="file-fields-1"/>
          <p:cNvSpPr txBox="1"/>
          <p:nvPr/>
        </p:nvSpPr>
        <p:spPr>
          <a:xfrm>
            <a:off x="5806440" y="17190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B55"/>
                </a:solidFill>
              </a:rPr>
              <a:t>Location, land-use type</a:t>
            </a:r>
            <a:endParaRPr lang="en-US" sz="1400" dirty="0"/>
          </a:p>
        </p:txBody>
      </p:sp>
      <p:sp>
        <p:nvSpPr>
          <p:cNvPr id="13" name="file-2"/>
          <p:cNvSpPr/>
          <p:nvPr/>
        </p:nvSpPr>
        <p:spPr>
          <a:xfrm>
            <a:off x="4023360" y="2249424"/>
            <a:ext cx="46634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file-name-2"/>
          <p:cNvSpPr txBox="1"/>
          <p:nvPr/>
        </p:nvSpPr>
        <p:spPr>
          <a:xfrm>
            <a:off x="4160520" y="224942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4C"/>
                </a:solidFill>
              </a:rPr>
              <a:t>weather.csv</a:t>
            </a:r>
            <a:endParaRPr lang="en-US" sz="1400" dirty="0"/>
          </a:p>
        </p:txBody>
      </p:sp>
      <p:sp>
        <p:nvSpPr>
          <p:cNvPr id="15" name="file-fields-2"/>
          <p:cNvSpPr txBox="1"/>
          <p:nvPr/>
        </p:nvSpPr>
        <p:spPr>
          <a:xfrm>
            <a:off x="5806440" y="224942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B55"/>
                </a:solidFill>
              </a:rPr>
              <a:t>Wind, temperature, humidity, rain</a:t>
            </a:r>
            <a:endParaRPr lang="en-US" sz="1400" dirty="0"/>
          </a:p>
        </p:txBody>
      </p:sp>
      <p:sp>
        <p:nvSpPr>
          <p:cNvPr id="16" name="file-3"/>
          <p:cNvSpPr/>
          <p:nvPr/>
        </p:nvSpPr>
        <p:spPr>
          <a:xfrm>
            <a:off x="4023360" y="2779776"/>
            <a:ext cx="46634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file-name-3"/>
          <p:cNvSpPr txBox="1"/>
          <p:nvPr/>
        </p:nvSpPr>
        <p:spPr>
          <a:xfrm>
            <a:off x="4160520" y="277977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4C"/>
                </a:solidFill>
              </a:rPr>
              <a:t>traffic.csv</a:t>
            </a:r>
            <a:endParaRPr lang="en-US" sz="1400" dirty="0"/>
          </a:p>
        </p:txBody>
      </p:sp>
      <p:sp>
        <p:nvSpPr>
          <p:cNvPr id="18" name="file-fields-3"/>
          <p:cNvSpPr txBox="1"/>
          <p:nvPr/>
        </p:nvSpPr>
        <p:spPr>
          <a:xfrm>
            <a:off x="5806440" y="277977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B55"/>
                </a:solidFill>
              </a:rPr>
              <a:t>Traffic volume, peak flag</a:t>
            </a:r>
            <a:endParaRPr lang="en-US" sz="1400" dirty="0"/>
          </a:p>
        </p:txBody>
      </p:sp>
      <p:sp>
        <p:nvSpPr>
          <p:cNvPr id="19" name="file-4"/>
          <p:cNvSpPr/>
          <p:nvPr/>
        </p:nvSpPr>
        <p:spPr>
          <a:xfrm>
            <a:off x="4023360" y="3310128"/>
            <a:ext cx="466344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file-name-4"/>
          <p:cNvSpPr txBox="1"/>
          <p:nvPr/>
        </p:nvSpPr>
        <p:spPr>
          <a:xfrm>
            <a:off x="4160520" y="33101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B4C"/>
                </a:solidFill>
              </a:rPr>
              <a:t>calendar.csv</a:t>
            </a:r>
            <a:endParaRPr lang="en-US" sz="1400" dirty="0"/>
          </a:p>
        </p:txBody>
      </p:sp>
      <p:sp>
        <p:nvSpPr>
          <p:cNvPr id="21" name="file-fields-4"/>
          <p:cNvSpPr txBox="1"/>
          <p:nvPr/>
        </p:nvSpPr>
        <p:spPr>
          <a:xfrm>
            <a:off x="5806440" y="33101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B55"/>
                </a:solidFill>
              </a:rPr>
              <a:t>Weekday, holiday, season</a:t>
            </a:r>
            <a:endParaRPr lang="en-US" sz="1400" dirty="0"/>
          </a:p>
        </p:txBody>
      </p:sp>
      <p:sp>
        <p:nvSpPr>
          <p:cNvPr id="22" name="size-strip"/>
          <p:cNvSpPr/>
          <p:nvPr/>
        </p:nvSpPr>
        <p:spPr>
          <a:xfrm>
            <a:off x="4023360" y="3886200"/>
            <a:ext cx="46634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size-text"/>
          <p:cNvSpPr txBox="1"/>
          <p:nvPr/>
        </p:nvSpPr>
        <p:spPr>
          <a:xfrm>
            <a:off x="4023360" y="38862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 stations · hourly 2024 · 70,272 rows × 18 columns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3B4C"/>
                </a:solidFill>
              </a:rPr>
              <a:t>Data cleaning at a glance</a:t>
            </a:r>
            <a:endParaRPr lang="en-US" sz="3000" dirty="0"/>
          </a:p>
        </p:txBody>
      </p:sp>
      <p:sp>
        <p:nvSpPr>
          <p:cNvPr id="3" name="clean-card-0"/>
          <p:cNvSpPr/>
          <p:nvPr/>
        </p:nvSpPr>
        <p:spPr>
          <a:xfrm>
            <a:off x="457200" y="1188720"/>
            <a:ext cx="26517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lean-0-num"/>
          <p:cNvSpPr txBox="1"/>
          <p:nvPr/>
        </p:nvSpPr>
        <p:spPr>
          <a:xfrm>
            <a:off x="685800" y="1371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8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914</a:t>
            </a:r>
            <a:endParaRPr lang="en-US" sz="3400" dirty="0"/>
          </a:p>
        </p:txBody>
      </p:sp>
      <p:sp>
        <p:nvSpPr>
          <p:cNvPr id="5" name="clean-0-lbl"/>
          <p:cNvSpPr txBox="1"/>
          <p:nvPr/>
        </p:nvSpPr>
        <p:spPr>
          <a:xfrm>
            <a:off x="68580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B55"/>
                </a:solidFill>
              </a:rPr>
              <a:t>duplicate readings removed</a:t>
            </a:r>
            <a:endParaRPr lang="en-US" sz="1400" dirty="0"/>
          </a:p>
        </p:txBody>
      </p:sp>
      <p:sp>
        <p:nvSpPr>
          <p:cNvPr id="6" name="clean-card-1"/>
          <p:cNvSpPr/>
          <p:nvPr/>
        </p:nvSpPr>
        <p:spPr>
          <a:xfrm>
            <a:off x="3246120" y="1188720"/>
            <a:ext cx="26517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lean-1-num"/>
          <p:cNvSpPr txBox="1"/>
          <p:nvPr/>
        </p:nvSpPr>
        <p:spPr>
          <a:xfrm>
            <a:off x="3474720" y="1371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 → 8</a:t>
            </a:r>
            <a:endParaRPr lang="en-US" sz="3400" dirty="0"/>
          </a:p>
        </p:txBody>
      </p:sp>
      <p:sp>
        <p:nvSpPr>
          <p:cNvPr id="8" name="clean-1-lbl"/>
          <p:cNvSpPr txBox="1"/>
          <p:nvPr/>
        </p:nvSpPr>
        <p:spPr>
          <a:xfrm>
            <a:off x="347472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B55"/>
                </a:solidFill>
              </a:rPr>
              <a:t>station name spellings unified</a:t>
            </a:r>
            <a:endParaRPr lang="en-US" sz="1400" dirty="0"/>
          </a:p>
        </p:txBody>
      </p:sp>
      <p:sp>
        <p:nvSpPr>
          <p:cNvPr id="9" name="clean-card-2"/>
          <p:cNvSpPr/>
          <p:nvPr/>
        </p:nvSpPr>
        <p:spPr>
          <a:xfrm>
            <a:off x="6035040" y="1188720"/>
            <a:ext cx="26517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lean-2-num"/>
          <p:cNvSpPr txBox="1"/>
          <p:nvPr/>
        </p:nvSpPr>
        <p:spPr>
          <a:xfrm>
            <a:off x="6263640" y="1371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8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9,646</a:t>
            </a:r>
            <a:endParaRPr lang="en-US" sz="3400" dirty="0"/>
          </a:p>
        </p:txBody>
      </p:sp>
      <p:sp>
        <p:nvSpPr>
          <p:cNvPr id="11" name="clean-2-lbl"/>
          <p:cNvSpPr txBox="1"/>
          <p:nvPr/>
        </p:nvSpPr>
        <p:spPr>
          <a:xfrm>
            <a:off x="626364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B55"/>
                </a:solidFill>
              </a:rPr>
              <a:t>missing sensor readings filled</a:t>
            </a:r>
            <a:endParaRPr lang="en-US" sz="1400" dirty="0"/>
          </a:p>
        </p:txBody>
      </p:sp>
      <p:sp>
        <p:nvSpPr>
          <p:cNvPr id="12" name="clean-card-3"/>
          <p:cNvSpPr/>
          <p:nvPr/>
        </p:nvSpPr>
        <p:spPr>
          <a:xfrm>
            <a:off x="457200" y="2651760"/>
            <a:ext cx="26517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lean-3-num"/>
          <p:cNvSpPr txBox="1"/>
          <p:nvPr/>
        </p:nvSpPr>
        <p:spPr>
          <a:xfrm>
            <a:off x="685800" y="28346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1,078</a:t>
            </a:r>
            <a:endParaRPr lang="en-US" sz="3400" dirty="0"/>
          </a:p>
        </p:txBody>
      </p:sp>
      <p:sp>
        <p:nvSpPr>
          <p:cNvPr id="14" name="clean-3-lbl"/>
          <p:cNvSpPr txBox="1"/>
          <p:nvPr/>
        </p:nvSpPr>
        <p:spPr>
          <a:xfrm>
            <a:off x="685800" y="3429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B55"/>
                </a:solidFill>
              </a:rPr>
              <a:t>weather and traffic gaps filled</a:t>
            </a:r>
            <a:endParaRPr lang="en-US" sz="1400" dirty="0"/>
          </a:p>
        </p:txBody>
      </p:sp>
      <p:sp>
        <p:nvSpPr>
          <p:cNvPr id="15" name="clean-card-4"/>
          <p:cNvSpPr/>
          <p:nvPr/>
        </p:nvSpPr>
        <p:spPr>
          <a:xfrm>
            <a:off x="3246120" y="2651760"/>
            <a:ext cx="26517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clean-4-num"/>
          <p:cNvSpPr txBox="1"/>
          <p:nvPr/>
        </p:nvSpPr>
        <p:spPr>
          <a:xfrm>
            <a:off x="3474720" y="28346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184</a:t>
            </a:r>
            <a:endParaRPr lang="en-US" sz="3400" dirty="0"/>
          </a:p>
        </p:txBody>
      </p:sp>
      <p:sp>
        <p:nvSpPr>
          <p:cNvPr id="17" name="clean-4-lbl"/>
          <p:cNvSpPr txBox="1"/>
          <p:nvPr/>
        </p:nvSpPr>
        <p:spPr>
          <a:xfrm>
            <a:off x="3474720" y="3429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B55"/>
                </a:solidFill>
              </a:rPr>
              <a:t>impossible values removed</a:t>
            </a:r>
            <a:endParaRPr lang="en-US" sz="1400" dirty="0"/>
          </a:p>
        </p:txBody>
      </p:sp>
      <p:sp>
        <p:nvSpPr>
          <p:cNvPr id="18" name="clean-card-5"/>
          <p:cNvSpPr/>
          <p:nvPr/>
        </p:nvSpPr>
        <p:spPr>
          <a:xfrm>
            <a:off x="6035040" y="2651760"/>
            <a:ext cx="2651760" cy="1325880"/>
          </a:xfrm>
          <a:prstGeom prst="roundRect">
            <a:avLst>
              <a:gd name="adj" fmla="val 68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clean-5-num"/>
          <p:cNvSpPr txBox="1"/>
          <p:nvPr/>
        </p:nvSpPr>
        <p:spPr>
          <a:xfrm>
            <a:off x="6263640" y="28346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3400" dirty="0"/>
          </a:p>
        </p:txBody>
      </p:sp>
      <p:sp>
        <p:nvSpPr>
          <p:cNvPr id="20" name="clean-5-lbl"/>
          <p:cNvSpPr txBox="1"/>
          <p:nvPr/>
        </p:nvSpPr>
        <p:spPr>
          <a:xfrm>
            <a:off x="6263640" y="3429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B55"/>
                </a:solidFill>
              </a:rPr>
              <a:t>extreme values capped (IQR)</a:t>
            </a:r>
            <a:endParaRPr lang="en-US" sz="1400" dirty="0"/>
          </a:p>
        </p:txBody>
      </p:sp>
      <p:sp>
        <p:nvSpPr>
          <p:cNvPr id="21" name="clean-result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clean-result-text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Result: 70,272 rows × 18 columns with zero missing values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3B4C"/>
                </a:solidFill>
              </a:rPr>
              <a:t>Ukkadam is the most polluted station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pin-circle"/>
          <p:cNvSpPr/>
          <p:nvPr/>
        </p:nvSpPr>
        <p:spPr>
          <a:xfrm>
            <a:off x="6126480" y="1280160"/>
            <a:ext cx="548640" cy="54864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pic>
        <p:nvPicPr>
          <p:cNvPr id="5" name="Image 0" descr="p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126" y="1422806"/>
            <a:ext cx="263347" cy="263347"/>
          </a:xfrm>
          <a:prstGeom prst="rect">
            <a:avLst/>
          </a:prstGeom>
        </p:spPr>
      </p:pic>
      <p:sp>
        <p:nvSpPr>
          <p:cNvPr id="6" name="st1-num"/>
          <p:cNvSpPr txBox="1"/>
          <p:nvPr/>
        </p:nvSpPr>
        <p:spPr>
          <a:xfrm>
            <a:off x="6812280" y="1234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2.8×</a:t>
            </a:r>
            <a:endParaRPr lang="en-US" sz="3400" dirty="0"/>
          </a:p>
        </p:txBody>
      </p:sp>
      <p:sp>
        <p:nvSpPr>
          <p:cNvPr id="7" name="st1-lbl"/>
          <p:cNvSpPr txBox="1"/>
          <p:nvPr/>
        </p:nvSpPr>
        <p:spPr>
          <a:xfrm>
            <a:off x="6812280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B55"/>
                </a:solidFill>
              </a:rPr>
              <a:t>Ukkadam vs Vadavalli (190.6 vs 67.2)</a:t>
            </a:r>
            <a:endParaRPr lang="en-US" sz="1400" dirty="0"/>
          </a:p>
        </p:txBody>
      </p:sp>
      <p:sp>
        <p:nvSpPr>
          <p:cNvPr id="8" name="st-card"/>
          <p:cNvSpPr/>
          <p:nvPr/>
        </p:nvSpPr>
        <p:spPr>
          <a:xfrm>
            <a:off x="6126480" y="2606040"/>
            <a:ext cx="25603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-text"/>
          <p:cNvSpPr txBox="1"/>
          <p:nvPr/>
        </p:nvSpPr>
        <p:spPr>
          <a:xfrm>
            <a:off x="6309360" y="27432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4B55"/>
                </a:solidFill>
              </a:rPr>
              <a:t>Industrial and transport-hub zones lead.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4B55"/>
                </a:solidFill>
              </a:rPr>
              <a:t>Ukkadam is above AQI 200 in 45% of hours; the green zone, Vadavalli, never 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3B4C"/>
                </a:solidFill>
              </a:rPr>
              <a:t>Pollution peaks at morning rush hour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55778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lock-circle"/>
          <p:cNvSpPr/>
          <p:nvPr/>
        </p:nvSpPr>
        <p:spPr>
          <a:xfrm>
            <a:off x="6217920" y="1280160"/>
            <a:ext cx="548640" cy="54864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5" name="Image 0" descr="c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0566" y="1422806"/>
            <a:ext cx="263347" cy="263347"/>
          </a:xfrm>
          <a:prstGeom prst="rect">
            <a:avLst/>
          </a:prstGeom>
        </p:spPr>
      </p:pic>
      <p:sp>
        <p:nvSpPr>
          <p:cNvPr id="6" name="hr1-num"/>
          <p:cNvSpPr txBox="1"/>
          <p:nvPr/>
        </p:nvSpPr>
        <p:spPr>
          <a:xfrm>
            <a:off x="6903720" y="1234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AM</a:t>
            </a:r>
            <a:endParaRPr lang="en-US" sz="3400" dirty="0"/>
          </a:p>
        </p:txBody>
      </p:sp>
      <p:sp>
        <p:nvSpPr>
          <p:cNvPr id="7" name="hr1-lbl"/>
          <p:cNvSpPr txBox="1"/>
          <p:nvPr/>
        </p:nvSpPr>
        <p:spPr>
          <a:xfrm>
            <a:off x="690372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B55"/>
                </a:solidFill>
              </a:rPr>
              <a:t>peak hour, mean AQI 181.2</a:t>
            </a:r>
            <a:endParaRPr lang="en-US" sz="1400" dirty="0"/>
          </a:p>
        </p:txBody>
      </p:sp>
      <p:sp>
        <p:nvSpPr>
          <p:cNvPr id="8" name="hr-card"/>
          <p:cNvSpPr/>
          <p:nvPr/>
        </p:nvSpPr>
        <p:spPr>
          <a:xfrm>
            <a:off x="6217920" y="2606040"/>
            <a:ext cx="246888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hr-text"/>
          <p:cNvSpPr txBox="1"/>
          <p:nvPr/>
        </p:nvSpPr>
        <p:spPr>
          <a:xfrm>
            <a:off x="6400800" y="27432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4B55"/>
                </a:solidFill>
              </a:rPr>
              <a:t>Two daily peaks: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4B55"/>
                </a:solidFill>
              </a:rPr>
              <a:t>7–8 AM (175.7, 181.2) and 6 PM (158.7). Lowest at 1 PM (120.1). Weekdays average 142.8 vs 128.8 on weekends.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3B4C"/>
                </a:solidFill>
              </a:rPr>
              <a:t>Winter brings the recurring peak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55778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eason-card-0"/>
          <p:cNvSpPr/>
          <p:nvPr/>
        </p:nvSpPr>
        <p:spPr>
          <a:xfrm>
            <a:off x="6217920" y="1188720"/>
            <a:ext cx="246888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eason-dot-0"/>
          <p:cNvSpPr/>
          <p:nvPr/>
        </p:nvSpPr>
        <p:spPr>
          <a:xfrm>
            <a:off x="6355080" y="1389888"/>
            <a:ext cx="237744" cy="237744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6" name="season-name-0"/>
          <p:cNvSpPr txBox="1"/>
          <p:nvPr/>
        </p:nvSpPr>
        <p:spPr>
          <a:xfrm>
            <a:off x="6675120" y="1188720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B55"/>
                </a:solidFill>
              </a:rPr>
              <a:t>Winter</a:t>
            </a:r>
            <a:endParaRPr lang="en-US" sz="1400" dirty="0"/>
          </a:p>
        </p:txBody>
      </p:sp>
      <p:sp>
        <p:nvSpPr>
          <p:cNvPr id="7" name="season-val-0"/>
          <p:cNvSpPr txBox="1"/>
          <p:nvPr/>
        </p:nvSpPr>
        <p:spPr>
          <a:xfrm>
            <a:off x="7818120" y="1188720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212.3</a:t>
            </a:r>
            <a:endParaRPr lang="en-US" sz="1800" dirty="0"/>
          </a:p>
        </p:txBody>
      </p:sp>
      <p:sp>
        <p:nvSpPr>
          <p:cNvPr id="8" name="season-card-1"/>
          <p:cNvSpPr/>
          <p:nvPr/>
        </p:nvSpPr>
        <p:spPr>
          <a:xfrm>
            <a:off x="6217920" y="1938528"/>
            <a:ext cx="246888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eason-dot-1"/>
          <p:cNvSpPr/>
          <p:nvPr/>
        </p:nvSpPr>
        <p:spPr>
          <a:xfrm>
            <a:off x="6355080" y="2139696"/>
            <a:ext cx="237744" cy="237744"/>
          </a:xfrm>
          <a:prstGeom prst="ellipse">
            <a:avLst/>
          </a:prstGeom>
          <a:solidFill>
            <a:srgbClr val="8E5BA6"/>
          </a:solidFill>
          <a:ln w="12700">
            <a:solidFill>
              <a:srgbClr val="8E5BA6"/>
            </a:solidFill>
            <a:prstDash val="solid"/>
          </a:ln>
        </p:spPr>
      </p:sp>
      <p:sp>
        <p:nvSpPr>
          <p:cNvPr id="10" name="season-name-1"/>
          <p:cNvSpPr txBox="1"/>
          <p:nvPr/>
        </p:nvSpPr>
        <p:spPr>
          <a:xfrm>
            <a:off x="6675120" y="1938528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B55"/>
                </a:solidFill>
              </a:rPr>
              <a:t>Post-Monsoon</a:t>
            </a:r>
            <a:endParaRPr lang="en-US" sz="1400" dirty="0"/>
          </a:p>
        </p:txBody>
      </p:sp>
      <p:sp>
        <p:nvSpPr>
          <p:cNvPr id="11" name="season-val-1"/>
          <p:cNvSpPr txBox="1"/>
          <p:nvPr/>
        </p:nvSpPr>
        <p:spPr>
          <a:xfrm>
            <a:off x="7818120" y="1938528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157.5</a:t>
            </a:r>
            <a:endParaRPr lang="en-US" sz="1800" dirty="0"/>
          </a:p>
        </p:txBody>
      </p:sp>
      <p:sp>
        <p:nvSpPr>
          <p:cNvPr id="12" name="season-card-2"/>
          <p:cNvSpPr/>
          <p:nvPr/>
        </p:nvSpPr>
        <p:spPr>
          <a:xfrm>
            <a:off x="6217920" y="2688336"/>
            <a:ext cx="246888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eason-dot-2"/>
          <p:cNvSpPr/>
          <p:nvPr/>
        </p:nvSpPr>
        <p:spPr>
          <a:xfrm>
            <a:off x="6355080" y="2889504"/>
            <a:ext cx="237744" cy="23774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4" name="season-name-2"/>
          <p:cNvSpPr txBox="1"/>
          <p:nvPr/>
        </p:nvSpPr>
        <p:spPr>
          <a:xfrm>
            <a:off x="6675120" y="2688336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B55"/>
                </a:solidFill>
              </a:rPr>
              <a:t>Summer</a:t>
            </a:r>
            <a:endParaRPr lang="en-US" sz="1400" dirty="0"/>
          </a:p>
        </p:txBody>
      </p:sp>
      <p:sp>
        <p:nvSpPr>
          <p:cNvPr id="15" name="season-val-2"/>
          <p:cNvSpPr txBox="1"/>
          <p:nvPr/>
        </p:nvSpPr>
        <p:spPr>
          <a:xfrm>
            <a:off x="7818120" y="2688336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137.9</a:t>
            </a:r>
            <a:endParaRPr lang="en-US" sz="1800" dirty="0"/>
          </a:p>
        </p:txBody>
      </p:sp>
      <p:sp>
        <p:nvSpPr>
          <p:cNvPr id="16" name="season-card-3"/>
          <p:cNvSpPr/>
          <p:nvPr/>
        </p:nvSpPr>
        <p:spPr>
          <a:xfrm>
            <a:off x="6217920" y="3438144"/>
            <a:ext cx="246888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eason-dot-3"/>
          <p:cNvSpPr/>
          <p:nvPr/>
        </p:nvSpPr>
        <p:spPr>
          <a:xfrm>
            <a:off x="6355080" y="3639312"/>
            <a:ext cx="237744" cy="237744"/>
          </a:xfrm>
          <a:prstGeom prst="ellipse">
            <a:avLst/>
          </a:prstGeom>
          <a:solidFill>
            <a:srgbClr val="1B8A9A"/>
          </a:solidFill>
          <a:ln w="12700">
            <a:solidFill>
              <a:srgbClr val="1B8A9A"/>
            </a:solidFill>
            <a:prstDash val="solid"/>
          </a:ln>
        </p:spPr>
      </p:sp>
      <p:sp>
        <p:nvSpPr>
          <p:cNvPr id="18" name="season-name-3"/>
          <p:cNvSpPr txBox="1"/>
          <p:nvPr/>
        </p:nvSpPr>
        <p:spPr>
          <a:xfrm>
            <a:off x="6675120" y="3438144"/>
            <a:ext cx="1234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B55"/>
                </a:solidFill>
              </a:rPr>
              <a:t>Monsoon</a:t>
            </a:r>
            <a:endParaRPr lang="en-US" sz="1400" dirty="0"/>
          </a:p>
        </p:txBody>
      </p:sp>
      <p:sp>
        <p:nvSpPr>
          <p:cNvPr id="19" name="season-val-3"/>
          <p:cNvSpPr txBox="1"/>
          <p:nvPr/>
        </p:nvSpPr>
        <p:spPr>
          <a:xfrm>
            <a:off x="7818120" y="3438144"/>
            <a:ext cx="777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75.5</a:t>
            </a:r>
            <a:endParaRPr lang="en-US" sz="1800" dirty="0"/>
          </a:p>
        </p:txBody>
      </p:sp>
      <p:sp>
        <p:nvSpPr>
          <p:cNvPr id="20" name="season-note"/>
          <p:cNvSpPr txBox="1"/>
          <p:nvPr/>
        </p:nvSpPr>
        <p:spPr>
          <a:xfrm>
            <a:off x="6217920" y="4206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4B55"/>
                </a:solidFill>
              </a:rPr>
              <a:t>Winter (Dec–Feb) is 2.8× the monsoon level. Feb is the worst month at 215.8.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3B4C"/>
                </a:solidFill>
              </a:rPr>
              <a:t>Calm air traps pollution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55778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wind-circle"/>
          <p:cNvSpPr/>
          <p:nvPr/>
        </p:nvSpPr>
        <p:spPr>
          <a:xfrm>
            <a:off x="6217920" y="1280160"/>
            <a:ext cx="548640" cy="548640"/>
          </a:xfrm>
          <a:prstGeom prst="ellipse">
            <a:avLst/>
          </a:prstGeom>
          <a:solidFill>
            <a:srgbClr val="1B8A9A"/>
          </a:solidFill>
          <a:ln w="12700">
            <a:solidFill>
              <a:srgbClr val="1B8A9A"/>
            </a:solidFill>
            <a:prstDash val="solid"/>
          </a:ln>
        </p:spPr>
      </p:sp>
      <p:pic>
        <p:nvPicPr>
          <p:cNvPr id="5" name="Image 0" descr="wi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0566" y="1422806"/>
            <a:ext cx="263347" cy="263347"/>
          </a:xfrm>
          <a:prstGeom prst="rect">
            <a:avLst/>
          </a:prstGeom>
        </p:spPr>
      </p:pic>
      <p:sp>
        <p:nvSpPr>
          <p:cNvPr id="6" name="wd1-num"/>
          <p:cNvSpPr txBox="1"/>
          <p:nvPr/>
        </p:nvSpPr>
        <p:spPr>
          <a:xfrm>
            <a:off x="6903720" y="12344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8A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−0.55</a:t>
            </a:r>
            <a:endParaRPr lang="en-US" sz="3400" dirty="0"/>
          </a:p>
        </p:txBody>
      </p:sp>
      <p:sp>
        <p:nvSpPr>
          <p:cNvPr id="7" name="wd1-lbl"/>
          <p:cNvSpPr txBox="1"/>
          <p:nvPr/>
        </p:nvSpPr>
        <p:spPr>
          <a:xfrm>
            <a:off x="690372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B55"/>
                </a:solidFill>
              </a:rPr>
              <a:t>wind speed vs PM2.5</a:t>
            </a:r>
            <a:endParaRPr lang="en-US" sz="1400" dirty="0"/>
          </a:p>
        </p:txBody>
      </p:sp>
      <p:sp>
        <p:nvSpPr>
          <p:cNvPr id="8" name="wd-card"/>
          <p:cNvSpPr/>
          <p:nvPr/>
        </p:nvSpPr>
        <p:spPr>
          <a:xfrm>
            <a:off x="6217920" y="2606040"/>
            <a:ext cx="246888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wd-text"/>
          <p:cNvSpPr txBox="1"/>
          <p:nvPr/>
        </p:nvSpPr>
        <p:spPr>
          <a:xfrm>
            <a:off x="6400800" y="274320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4B55"/>
                </a:solidFill>
              </a:rPr>
              <a:t>Stronger wind, cleaner air.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4B55"/>
                </a:solidFill>
              </a:rPr>
              <a:t>PM2.5 is 2.8× higher in the calmest band (99.5) than in the windiest (35.8).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3B4C"/>
                </a:solidFill>
              </a:rPr>
              <a:t>Traffic adds to it, rain washes it out</a:t>
            </a:r>
            <a:endParaRPr lang="en-US" sz="3000" dirty="0"/>
          </a:p>
        </p:txBody>
      </p:sp>
      <p:sp>
        <p:nvSpPr>
          <p:cNvPr id="3" name="tr-panel"/>
          <p:cNvSpPr/>
          <p:nvPr/>
        </p:nvSpPr>
        <p:spPr>
          <a:xfrm>
            <a:off x="457200" y="1143000"/>
            <a:ext cx="402336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-circle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5" name="Image 0" descr="c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99032"/>
            <a:ext cx="219456" cy="219456"/>
          </a:xfrm>
          <a:prstGeom prst="rect">
            <a:avLst/>
          </a:prstGeom>
        </p:spPr>
      </p:pic>
      <p:sp>
        <p:nvSpPr>
          <p:cNvPr id="6" name="tr-head"/>
          <p:cNvSpPr txBox="1"/>
          <p:nvPr/>
        </p:nvSpPr>
        <p:spPr>
          <a:xfrm>
            <a:off x="118872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</a:t>
            </a:r>
            <a:endParaRPr lang="en-US" sz="1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828800"/>
          <a:ext cx="38404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r-text"/>
          <p:cNvSpPr txBox="1"/>
          <p:nvPr/>
        </p:nvSpPr>
        <p:spPr>
          <a:xfrm>
            <a:off x="640080" y="3840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B55"/>
                </a:solidFill>
              </a:rPr>
              <a:t>Peak-traffic hours are 25% higher in AQI. Correlation with volume is weak (r = 0.17).</a:t>
            </a:r>
            <a:endParaRPr lang="en-US" sz="1400" dirty="0"/>
          </a:p>
        </p:txBody>
      </p:sp>
      <p:sp>
        <p:nvSpPr>
          <p:cNvPr id="9" name="rn-panel"/>
          <p:cNvSpPr/>
          <p:nvPr/>
        </p:nvSpPr>
        <p:spPr>
          <a:xfrm>
            <a:off x="4663440" y="1143000"/>
            <a:ext cx="402336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rain-circle"/>
          <p:cNvSpPr/>
          <p:nvPr/>
        </p:nvSpPr>
        <p:spPr>
          <a:xfrm>
            <a:off x="4846320" y="1280160"/>
            <a:ext cx="457200" cy="457200"/>
          </a:xfrm>
          <a:prstGeom prst="ellipse">
            <a:avLst/>
          </a:prstGeom>
          <a:solidFill>
            <a:srgbClr val="1B8A9A"/>
          </a:solidFill>
          <a:ln w="12700">
            <a:solidFill>
              <a:srgbClr val="1B8A9A"/>
            </a:solidFill>
            <a:prstDash val="solid"/>
          </a:ln>
        </p:spPr>
      </p:sp>
      <p:pic>
        <p:nvPicPr>
          <p:cNvPr id="11" name="Image 1" descr="ra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5192" y="1399032"/>
            <a:ext cx="219456" cy="219456"/>
          </a:xfrm>
          <a:prstGeom prst="rect">
            <a:avLst/>
          </a:prstGeom>
        </p:spPr>
      </p:pic>
      <p:sp>
        <p:nvSpPr>
          <p:cNvPr id="12" name="rn-head"/>
          <p:cNvSpPr txBox="1"/>
          <p:nvPr/>
        </p:nvSpPr>
        <p:spPr>
          <a:xfrm>
            <a:off x="539496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Rain</a:t>
            </a:r>
            <a:endParaRPr lang="en-US" sz="1800" dirty="0"/>
          </a:p>
        </p:txBody>
      </p:sp>
      <p:graphicFrame>
        <p:nvGraphicFramePr>
          <p:cNvPr id="13" name="Chart 1" descr=""/>
          <p:cNvGraphicFramePr/>
          <p:nvPr/>
        </p:nvGraphicFramePr>
        <p:xfrm>
          <a:off x="4754880" y="1828800"/>
          <a:ext cx="384048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rn-text"/>
          <p:cNvSpPr txBox="1"/>
          <p:nvPr/>
        </p:nvSpPr>
        <p:spPr>
          <a:xfrm>
            <a:off x="4846320" y="3840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B55"/>
                </a:solidFill>
              </a:rPr>
              <a:t>PM2.5 falls 41.7% in rainy hours (70.0 to 40.8); AQI drops from 143.7 to 75.0.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3B4C"/>
                </a:solidFill>
              </a:rPr>
              <a:t>Where to focus and what to do</a:t>
            </a:r>
            <a:endParaRPr lang="en-US" sz="3000" dirty="0"/>
          </a:p>
        </p:txBody>
      </p:sp>
      <p:sp>
        <p:nvSpPr>
          <p:cNvPr id="3" name="pr-card-0"/>
          <p:cNvSpPr/>
          <p:nvPr/>
        </p:nvSpPr>
        <p:spPr>
          <a:xfrm>
            <a:off x="457200" y="114300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r-0-circle"/>
          <p:cNvSpPr/>
          <p:nvPr/>
        </p:nvSpPr>
        <p:spPr>
          <a:xfrm>
            <a:off x="640080" y="1280160"/>
            <a:ext cx="411480" cy="41148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pic>
        <p:nvPicPr>
          <p:cNvPr id="5" name="Image 0" descr="pr-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5" y="1387145"/>
            <a:ext cx="197510" cy="197510"/>
          </a:xfrm>
          <a:prstGeom prst="rect">
            <a:avLst/>
          </a:prstGeom>
        </p:spPr>
      </p:pic>
      <p:sp>
        <p:nvSpPr>
          <p:cNvPr id="6" name="pr-head-0"/>
          <p:cNvSpPr txBox="1"/>
          <p:nvPr/>
        </p:nvSpPr>
        <p:spPr>
          <a:xfrm>
            <a:off x="1143000" y="1280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Stations</a:t>
            </a:r>
            <a:endParaRPr lang="en-US" sz="1600" dirty="0"/>
          </a:p>
        </p:txBody>
      </p:sp>
      <p:sp>
        <p:nvSpPr>
          <p:cNvPr id="7" name="pr-text-0"/>
          <p:cNvSpPr txBox="1"/>
          <p:nvPr/>
        </p:nvSpPr>
        <p:spPr>
          <a:xfrm>
            <a:off x="640080" y="17830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B55"/>
                </a:solidFill>
              </a:rPr>
              <a:t>Ukkadam, Singanallur, Kuniyamuthur (AQI 171–191)</a:t>
            </a:r>
            <a:endParaRPr lang="en-US" sz="1400" dirty="0"/>
          </a:p>
        </p:txBody>
      </p:sp>
      <p:sp>
        <p:nvSpPr>
          <p:cNvPr id="8" name="pr-card-1"/>
          <p:cNvSpPr/>
          <p:nvPr/>
        </p:nvSpPr>
        <p:spPr>
          <a:xfrm>
            <a:off x="3246120" y="114300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r-1-circle"/>
          <p:cNvSpPr/>
          <p:nvPr/>
        </p:nvSpPr>
        <p:spPr>
          <a:xfrm>
            <a:off x="3429000" y="1280160"/>
            <a:ext cx="411480" cy="41148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pic>
        <p:nvPicPr>
          <p:cNvPr id="10" name="Image 1" descr="pr-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985" y="1387145"/>
            <a:ext cx="197510" cy="197510"/>
          </a:xfrm>
          <a:prstGeom prst="rect">
            <a:avLst/>
          </a:prstGeom>
        </p:spPr>
      </p:pic>
      <p:sp>
        <p:nvSpPr>
          <p:cNvPr id="11" name="pr-head-1"/>
          <p:cNvSpPr txBox="1"/>
          <p:nvPr/>
        </p:nvSpPr>
        <p:spPr>
          <a:xfrm>
            <a:off x="3931920" y="1280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Periods</a:t>
            </a:r>
            <a:endParaRPr lang="en-US" sz="1600" dirty="0"/>
          </a:p>
        </p:txBody>
      </p:sp>
      <p:sp>
        <p:nvSpPr>
          <p:cNvPr id="12" name="pr-text-1"/>
          <p:cNvSpPr txBox="1"/>
          <p:nvPr/>
        </p:nvSpPr>
        <p:spPr>
          <a:xfrm>
            <a:off x="3429000" y="17830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B55"/>
                </a:solidFill>
              </a:rPr>
              <a:t>7–9 AM and 6 PM rush hours; Dec–Feb winter</a:t>
            </a:r>
            <a:endParaRPr lang="en-US" sz="1400" dirty="0"/>
          </a:p>
        </p:txBody>
      </p:sp>
      <p:sp>
        <p:nvSpPr>
          <p:cNvPr id="13" name="pr-card-2"/>
          <p:cNvSpPr/>
          <p:nvPr/>
        </p:nvSpPr>
        <p:spPr>
          <a:xfrm>
            <a:off x="6035040" y="114300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r-2-circle"/>
          <p:cNvSpPr/>
          <p:nvPr/>
        </p:nvSpPr>
        <p:spPr>
          <a:xfrm>
            <a:off x="6217920" y="1280160"/>
            <a:ext cx="411480" cy="411480"/>
          </a:xfrm>
          <a:prstGeom prst="ellipse">
            <a:avLst/>
          </a:prstGeom>
          <a:solidFill>
            <a:srgbClr val="1B8A9A"/>
          </a:solidFill>
          <a:ln w="12700">
            <a:solidFill>
              <a:srgbClr val="1B8A9A"/>
            </a:solidFill>
            <a:prstDash val="solid"/>
          </a:ln>
        </p:spPr>
      </p:sp>
      <p:pic>
        <p:nvPicPr>
          <p:cNvPr id="15" name="Image 2" descr="pr-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905" y="1387145"/>
            <a:ext cx="197510" cy="197510"/>
          </a:xfrm>
          <a:prstGeom prst="rect">
            <a:avLst/>
          </a:prstGeom>
        </p:spPr>
      </p:pic>
      <p:sp>
        <p:nvSpPr>
          <p:cNvPr id="16" name="pr-head-2"/>
          <p:cNvSpPr txBox="1"/>
          <p:nvPr/>
        </p:nvSpPr>
        <p:spPr>
          <a:xfrm>
            <a:off x="6720840" y="1280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B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Conditions</a:t>
            </a:r>
            <a:endParaRPr lang="en-US" sz="1600" dirty="0"/>
          </a:p>
        </p:txBody>
      </p:sp>
      <p:sp>
        <p:nvSpPr>
          <p:cNvPr id="17" name="pr-text-2"/>
          <p:cNvSpPr txBox="1"/>
          <p:nvPr/>
        </p:nvSpPr>
        <p:spPr>
          <a:xfrm>
            <a:off x="6217920" y="17830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B55"/>
                </a:solidFill>
              </a:rPr>
              <a:t>Calm wind, no rain, peak-traffic hours</a:t>
            </a:r>
            <a:endParaRPr lang="en-US" sz="1400" dirty="0"/>
          </a:p>
        </p:txBody>
      </p:sp>
      <p:sp>
        <p:nvSpPr>
          <p:cNvPr id="18" name="rec-kicker"/>
          <p:cNvSpPr txBox="1"/>
          <p:nvPr/>
        </p:nvSpPr>
        <p:spPr>
          <a:xfrm>
            <a:off x="45720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8A9A"/>
                </a:solidFill>
              </a:rPr>
              <a:t>RECOMMENDATIONS</a:t>
            </a:r>
            <a:endParaRPr lang="en-US" sz="1200" dirty="0"/>
          </a:p>
        </p:txBody>
      </p:sp>
      <p:sp>
        <p:nvSpPr>
          <p:cNvPr id="19" name="rec-card-0"/>
          <p:cNvSpPr/>
          <p:nvPr/>
        </p:nvSpPr>
        <p:spPr>
          <a:xfrm>
            <a:off x="457200" y="301752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rec-num-0"/>
          <p:cNvSpPr txBox="1"/>
          <p:nvPr/>
        </p:nvSpPr>
        <p:spPr>
          <a:xfrm>
            <a:off x="5943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rec-text-0"/>
          <p:cNvSpPr txBox="1"/>
          <p:nvPr/>
        </p:nvSpPr>
        <p:spPr>
          <a:xfrm>
            <a:off x="1143000" y="30175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Prioritise monitoring at the 3 worst stations during rush hours</a:t>
            </a:r>
            <a:endParaRPr lang="en-US" sz="1400" dirty="0"/>
          </a:p>
        </p:txBody>
      </p:sp>
      <p:sp>
        <p:nvSpPr>
          <p:cNvPr id="22" name="rec-card-1"/>
          <p:cNvSpPr/>
          <p:nvPr/>
        </p:nvSpPr>
        <p:spPr>
          <a:xfrm>
            <a:off x="4663440" y="301752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3" name="rec-num-1"/>
          <p:cNvSpPr txBox="1"/>
          <p:nvPr/>
        </p:nvSpPr>
        <p:spPr>
          <a:xfrm>
            <a:off x="48006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24" name="rec-text-1"/>
          <p:cNvSpPr txBox="1"/>
          <p:nvPr/>
        </p:nvSpPr>
        <p:spPr>
          <a:xfrm>
            <a:off x="5349240" y="301752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Alert the public when wind is low and traffic is at peak</a:t>
            </a:r>
            <a:endParaRPr lang="en-US" sz="1400" dirty="0"/>
          </a:p>
        </p:txBody>
      </p:sp>
      <p:sp>
        <p:nvSpPr>
          <p:cNvPr id="25" name="rec-card-2"/>
          <p:cNvSpPr/>
          <p:nvPr/>
        </p:nvSpPr>
        <p:spPr>
          <a:xfrm>
            <a:off x="457200" y="384048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6" name="rec-num-2"/>
          <p:cNvSpPr txBox="1"/>
          <p:nvPr/>
        </p:nvSpPr>
        <p:spPr>
          <a:xfrm>
            <a:off x="59436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rec-text-2"/>
          <p:cNvSpPr txBox="1"/>
          <p:nvPr/>
        </p:nvSpPr>
        <p:spPr>
          <a:xfrm>
            <a:off x="1143000" y="38404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Start winter action plans before December each year</a:t>
            </a:r>
            <a:endParaRPr lang="en-US" sz="1400" dirty="0"/>
          </a:p>
        </p:txBody>
      </p:sp>
      <p:sp>
        <p:nvSpPr>
          <p:cNvPr id="28" name="rec-card-3"/>
          <p:cNvSpPr/>
          <p:nvPr/>
        </p:nvSpPr>
        <p:spPr>
          <a:xfrm>
            <a:off x="4663440" y="3840480"/>
            <a:ext cx="402336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rec-num-3"/>
          <p:cNvSpPr txBox="1"/>
          <p:nvPr/>
        </p:nvSpPr>
        <p:spPr>
          <a:xfrm>
            <a:off x="48006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rec-text-3"/>
          <p:cNvSpPr txBox="1"/>
          <p:nvPr/>
        </p:nvSpPr>
        <p:spPr>
          <a:xfrm>
            <a:off x="5349240" y="38404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Use the AQI prediction model (R² 0.76) for early warnings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-1"/>
          <p:cNvSpPr/>
          <p:nvPr/>
        </p:nvSpPr>
        <p:spPr>
          <a:xfrm>
            <a:off x="6309360" y="457200"/>
            <a:ext cx="3291840" cy="329184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deco-2"/>
          <p:cNvSpPr/>
          <p:nvPr/>
        </p:nvSpPr>
        <p:spPr>
          <a:xfrm>
            <a:off x="7223760" y="2377440"/>
            <a:ext cx="2377440" cy="2377440"/>
          </a:xfrm>
          <a:prstGeom prst="ellipse">
            <a:avLst/>
          </a:prstGeom>
          <a:solidFill>
            <a:schemeClr val="accent2">
              <a:alpha val="2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Thank You</a:t>
            </a:r>
            <a:endParaRPr lang="en-US" sz="4000" dirty="0"/>
          </a:p>
        </p:txBody>
      </p:sp>
      <p:sp>
        <p:nvSpPr>
          <p:cNvPr id="5" name="closing-line"/>
          <p:cNvSpPr txBox="1"/>
          <p:nvPr/>
        </p:nvSpPr>
        <p:spPr>
          <a:xfrm>
            <a:off x="548640" y="23317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E8"/>
                </a:solidFill>
              </a:rPr>
              <a:t>Cleaner cities start with knowing when, where and why the air turns bad.</a:t>
            </a:r>
            <a:endParaRPr lang="en-US" sz="1800" dirty="0"/>
          </a:p>
        </p:txBody>
      </p:sp>
      <p:sp>
        <p:nvSpPr>
          <p:cNvPr id="6" name="closing-name"/>
          <p:cNvSpPr txBox="1"/>
          <p:nvPr/>
        </p:nvSpPr>
        <p:spPr>
          <a:xfrm>
            <a:off x="548640" y="356616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Pradeep P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F2A93B"/>
                </a:solidFill>
              </a:rPr>
              <a:t>Reg No: 722824104175  ·  CH20 Air Quality Insight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coAir">
  <a:themeElements>
    <a:clrScheme name="EcoAir">
      <a:dk1>
        <a:srgbClr val="1B2A33"/>
      </a:dk1>
      <a:lt1>
        <a:srgbClr val="FFFFFF"/>
      </a:lt1>
      <a:dk2>
        <a:srgbClr val="0F3B4C"/>
      </a:dk2>
      <a:lt2>
        <a:srgbClr val="EAF3F5"/>
      </a:lt2>
      <a:accent1>
        <a:srgbClr val="1B8A9A"/>
      </a:accent1>
      <a:accent2>
        <a:srgbClr val="F2A93B"/>
      </a:accent2>
      <a:accent3>
        <a:srgbClr val="D64545"/>
      </a:accent3>
      <a:accent4>
        <a:srgbClr val="6FB7A8"/>
      </a:accent4>
      <a:accent5>
        <a:srgbClr val="5B7C8D"/>
      </a:accent5>
      <a:accent6>
        <a:srgbClr val="8E5BA6"/>
      </a:accent6>
      <a:hlink>
        <a:srgbClr val="1B8A9A"/>
      </a:hlink>
      <a:folHlink>
        <a:srgbClr val="5B7C8D"/>
      </a:folHlink>
    </a:clrScheme>
    <a:fontScheme name="EcoAi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CH20 Air Quality Insight</dc:title>
  <dc:subject>PptxGenJS Presentation</dc:subject>
  <dc:creator>Pradeep P</dc:creator>
  <cp:lastModifiedBy>Pradeep P</cp:lastModifiedBy>
  <cp:revision>1</cp:revision>
  <dcterms:created xsi:type="dcterms:W3CDTF">2026-10-12T07:05:47Z</dcterms:created>
  <dcterms:modified xsi:type="dcterms:W3CDTF">2026-10-12T07:05:47Z</dcterms:modified>
</cp:coreProperties>
</file>